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6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15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rial" panose="020B0604020202020204"/>
              </a:rPr>
              <a:t>UX/UI CASE STUDY • MOBILE PRODUCT</a:t>
            </a:r>
            <a:endParaRPr sz="1000" b="1">
              <a:solidFill>
                <a:srgbClr val="93C5FD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 panose="020B0604020202020204"/>
              </a:rPr>
              <a:t>StudyFlow</a:t>
            </a:r>
            <a:endParaRPr sz="5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066543"/>
            <a:ext cx="544068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CAD5E1"/>
                </a:solidFill>
                <a:latin typeface="Arial" panose="020B0604020202020204"/>
              </a:rPr>
              <a:t>Ứng dụng đã hoàn thiện, hỗ trợ sinh viên quản lý lịch học, deadline và kế hoạch ôn tập một cách chủ động.</a:t>
            </a:r>
            <a:endParaRPr sz="1900" b="0">
              <a:solidFill>
                <a:srgbClr val="CAD5E1"/>
              </a:solidFill>
              <a:latin typeface="Arial" panose="020B0604020202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054096"/>
            <a:ext cx="1234440" cy="347472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FDBFE"/>
                </a:solidFill>
                <a:latin typeface="Arial" panose="020B0604020202020204"/>
              </a:rPr>
              <a:t>Schedule</a:t>
            </a:r>
            <a:endParaRPr sz="1000" b="1">
              <a:solidFill>
                <a:srgbClr val="BFDBFE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21408" y="3054096"/>
            <a:ext cx="1234440" cy="347472"/>
          </a:xfrm>
          <a:prstGeom prst="roundRect">
            <a:avLst/>
          </a:prstGeom>
          <a:solidFill>
            <a:srgbClr val="7F1D1D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ECACA"/>
                </a:solidFill>
                <a:latin typeface="Arial" panose="020B0604020202020204"/>
              </a:rPr>
              <a:t>Deadline</a:t>
            </a:r>
            <a:endParaRPr sz="1000" b="1">
              <a:solidFill>
                <a:srgbClr val="FECACA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11296" y="3054096"/>
            <a:ext cx="1143000" cy="347472"/>
          </a:xfrm>
          <a:prstGeom prst="roundRect">
            <a:avLst/>
          </a:prstGeom>
          <a:solidFill>
            <a:srgbClr val="14532D"/>
          </a:solidFill>
          <a:ln w="9525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BF7D0"/>
                </a:solidFill>
                <a:latin typeface="Arial" panose="020B0604020202020204"/>
              </a:rPr>
              <a:t>Ôn tập</a:t>
            </a:r>
            <a:endParaRPr sz="1000" b="1">
              <a:solidFill>
                <a:srgbClr val="BBF7D0"/>
              </a:solidFill>
              <a:latin typeface="Arial" panose="020B0604020202020204"/>
            </a:endParaRPr>
          </a:p>
        </p:txBody>
      </p:sp>
      <p:pic>
        <p:nvPicPr>
          <p:cNvPr id="8" name="Picture 7" descr="figma_schedule_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658368"/>
            <a:ext cx="2029968" cy="4407408"/>
          </a:xfrm>
          <a:prstGeom prst="rect">
            <a:avLst/>
          </a:prstGeom>
        </p:spPr>
      </p:pic>
      <p:pic>
        <p:nvPicPr>
          <p:cNvPr id="9" name="Picture 8" descr="figma_deadlin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024128"/>
            <a:ext cx="2029968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01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Tổng quan dự án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9901555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StudyFlow là ứng dụng mobile đã hoàn thiện, gom lịch học, deadline và kế hoạch ôn tập vào một trải nghiệm thống nhất.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58495" y="1627505"/>
            <a:ext cx="3337560" cy="1329055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Lịch học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426210" y="2084705"/>
            <a:ext cx="258953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Xem ngày/tuần/tháng, thêm/sửa lớp, phòng học, giảng viên.</a:t>
            </a:r>
            <a:endParaRPr sz="1600"/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453255" y="1627505"/>
            <a:ext cx="3337560" cy="1329055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22122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Deadline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22122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Theo dõi bài tập, mức ưu tiên, quá hạn và tiến độ.</a:t>
            </a:r>
            <a:endParaRPr sz="1600"/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248015" y="1627505"/>
            <a:ext cx="3337560" cy="132969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10"/>
            </p:custDataLst>
          </p:nvPr>
        </p:nvSpPr>
        <p:spPr>
          <a:xfrm>
            <a:off x="843076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901598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Kế hoạch ôn tập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015984" y="208483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Chia nhỏ mục tiêu học, nhắc ôn và theo dõi hoàn thành.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1005840" y="3749039"/>
            <a:ext cx="16459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ma_schedule_da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5568" y="3858767"/>
            <a:ext cx="1426464" cy="215798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170432" y="5742431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Schedule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99075" y="3730624"/>
            <a:ext cx="16459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ma_deadline_li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08803" y="3840352"/>
            <a:ext cx="1426464" cy="215798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344922" y="5724016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Deadline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93835" y="3639184"/>
            <a:ext cx="16459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ma_deadline_detai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3563" y="3748912"/>
            <a:ext cx="1426464" cy="215798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093962" y="5632576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Progress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02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Vấn đề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rial" panose="020B0604020202020204"/>
              </a:rPr>
              <a:t>Sinh viên cần học chủ động hơn nhưng thông tin bị phân tán.</a:t>
            </a:r>
            <a:endParaRPr sz="20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6035040" cy="3716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Lịch học, bài tập, nhắc nhở và tài liệu nằm ở nhiều app khác nhau.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Deadline đến gần nhưng không được ưu tiên rõ theo ngày/tuần.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Ôn tập thường bị động, chỉ bắt đầu khi sát kiểm tra.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Quá nhiều việc nhỏ khiến người dùng không biết bắt đầu từ đâu.</a:t>
            </a:r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7543800" y="1143000"/>
            <a:ext cx="192024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deadline_to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28" y="1252728"/>
            <a:ext cx="1700784" cy="4032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555480" y="1508760"/>
            <a:ext cx="169164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schedule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08" y="1618488"/>
            <a:ext cx="1472184" cy="3529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03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Mục tiêu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Xây dựng ứng dụng hoàn chỉnh giúp sinh viên học có kế hoạch, đúng hạn và ít căng thẳng hơn.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6035040" cy="4667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Giảm việc quên lịch học, deadline và phiên ôn tập quan trọng.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Hiển thị ưu tiên theo hôm nay, tuần này và quá hạn.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Thêm/sửa/xóa nhanh trên mobile với ít bước thao tác.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Tạo cảm giác tiến bộ qua trạng thái và phần trăm hoàn thành.</a:t>
            </a:r>
            <a:endParaRPr sz="28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800"/>
              <a:t>• Thiết kế dễ tiếp cận: chữ rõ, tương phản tốt, vùng chạm đủ lớn.</a:t>
            </a:r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7543800" y="1143000"/>
            <a:ext cx="192024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deadline_to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28" y="1252728"/>
            <a:ext cx="1700784" cy="4032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555480" y="1508760"/>
            <a:ext cx="169164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schedule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08" y="1618488"/>
            <a:ext cx="1472184" cy="3529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04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Nghiên cứu người dùng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10185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834640"/>
                <a:gridCol w="6263640"/>
              </a:tblGrid>
              <a:tr h="6492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Phương pháp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Mục đích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Insight chính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Interview 1:1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Hiểu thói quen lập kế hoạch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Sinh viên dùng nhiều công cụ nhưng bỏ sót cập nhật.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Survey nhanh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Xác định tần suất quên deadline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Deadline và lịch học là nhu cầu thường xuyên nhất.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Desk research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So sánh app hiện có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Ít app gom lịch học + deadline + ôn tập trong UX mobile gọn.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Usability test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Kiểm tra flow thêm deadline/lịch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lang="en-US" sz="1800"/>
                        <a:t>Trạng thái </a:t>
                      </a:r>
                      <a:r>
                        <a:rPr sz="1800"/>
                        <a:t>rõ và trạng thái quá hạn giúp người dùng hiểu nhanh.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05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Phân tích đối thủ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43584"/>
          <a:ext cx="11384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46120"/>
                <a:gridCol w="2606040"/>
                <a:gridCol w="4206240"/>
              </a:tblGrid>
              <a:tr h="716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Nhóm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Ứng dụng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Điểm mạnh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Khoảng trống cho StudyFlow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Student planner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MyStudyLife, myHomework, Power Planner, iStudiez Pro, School Planner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Theo dõi lớp, bài tập, nhắc nhở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Chưa nhấn mạnh kế hoạch ôn tập cá nhân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Deadline tracker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Assignment Planner, Egenda, Class Timetable, Studious, Homework Planner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Tập trung bài tập/hạn nộp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Ít kết nối với lịch học và tiến độ ôn thi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Productivity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Todoist, TickTick, Microsoft To Do, Any.do, Trello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Task mạnh, nhắc nhở, label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Không sinh viên-hóa môn học/lớp học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Calendar/planning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Google Calendar, Notion, Structured, FlowSavvy, Apple Calendar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Lịch, time blocking, template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Cần tự cấu hình, dễ quá tải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Study tools/LMS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Quizlet, Anki, Forest, Focus To-Do, Google Classroom, Canvas Student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Ôn tập, tập trung, LMS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Không gom toàn bộ journey học tập cá nhân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38124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rial" panose="020B0604020202020204"/>
              </a:rPr>
              <a:t>Cơ hội: StudyFlow tập trung vào hành trình học tập của sinh viên, không chỉ là to-do list.</a:t>
            </a:r>
            <a:endParaRPr sz="17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06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Pain Points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Những nỗi đau chính đã được StudyFlow giải quyết trong sản phẩm hoàn thiện.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495" y="1627505"/>
            <a:ext cx="3337560" cy="159639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6464" y="1792224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Quên deadline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6464" y="2084832"/>
            <a:ext cx="2331720" cy="830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Không thấy mức độ khẩn cấp trước khi quá muộn.</a:t>
            </a:r>
            <a:endParaRPr sz="1800"/>
          </a:p>
        </p:txBody>
      </p:sp>
      <p:sp>
        <p:nvSpPr>
          <p:cNvPr id="10" name="Rounded Rectangle 9"/>
          <p:cNvSpPr/>
          <p:nvPr/>
        </p:nvSpPr>
        <p:spPr>
          <a:xfrm>
            <a:off x="4453255" y="1627505"/>
            <a:ext cx="3337560" cy="1574800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1224" y="1792224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Không biết ưu tiên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1224" y="2084832"/>
            <a:ext cx="23317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Không rõ hôm nay nên học gì trước.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8248015" y="1627505"/>
            <a:ext cx="3337560" cy="15748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0768" y="179222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15984" y="1792224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Khó cập nhật lịch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15984" y="2084832"/>
            <a:ext cx="2331720" cy="830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Lịch học thay đổi nhưng thao tác sửa mất thời gian.</a:t>
            </a:r>
            <a:endParaRPr sz="1800"/>
          </a:p>
        </p:txBody>
      </p:sp>
      <p:sp>
        <p:nvSpPr>
          <p:cNvPr id="18" name="Rounded Rectangle 17"/>
          <p:cNvSpPr/>
          <p:nvPr/>
        </p:nvSpPr>
        <p:spPr>
          <a:xfrm>
            <a:off x="658495" y="4565650"/>
            <a:ext cx="3337560" cy="150939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730496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26464" y="4730496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Bài lớn mơ hồ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26464" y="502310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Không chia nhỏ tiến độ thành các bước làm được.</a:t>
            </a:r>
            <a:endParaRPr sz="1600"/>
          </a:p>
        </p:txBody>
      </p:sp>
      <p:sp>
        <p:nvSpPr>
          <p:cNvPr id="22" name="Rounded Rectangle 21"/>
          <p:cNvSpPr/>
          <p:nvPr/>
        </p:nvSpPr>
        <p:spPr>
          <a:xfrm>
            <a:off x="4453255" y="4565650"/>
            <a:ext cx="3337560" cy="1509395"/>
          </a:xfrm>
          <a:prstGeom prst="roundRect">
            <a:avLst/>
          </a:prstGeom>
          <a:solidFill>
            <a:srgbClr val="ECFE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6008" y="4730496"/>
            <a:ext cx="457200" cy="256032"/>
          </a:xfrm>
          <a:prstGeom prst="roundRect">
            <a:avLst/>
          </a:prstGeom>
          <a:solidFill>
            <a:srgbClr val="06B6D4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21224" y="4730496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Ôn tập thiếu kế hoạch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21224" y="5023104"/>
            <a:ext cx="23317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Thiếu nhắc nhở và mục tiêu theo ngày.</a:t>
            </a:r>
            <a:endParaRPr sz="1800"/>
          </a:p>
        </p:txBody>
      </p:sp>
      <p:sp>
        <p:nvSpPr>
          <p:cNvPr id="26" name="Rounded Rectangle 25"/>
          <p:cNvSpPr/>
          <p:nvPr/>
        </p:nvSpPr>
        <p:spPr>
          <a:xfrm>
            <a:off x="8248015" y="4565650"/>
            <a:ext cx="3337560" cy="1509395"/>
          </a:xfrm>
          <a:prstGeom prst="roundRect">
            <a:avLst/>
          </a:prstGeom>
          <a:solidFill>
            <a:srgbClr val="FDF2F8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30768" y="4730496"/>
            <a:ext cx="457200" cy="256032"/>
          </a:xfrm>
          <a:prstGeom prst="roundRect">
            <a:avLst/>
          </a:prstGeom>
          <a:solidFill>
            <a:srgbClr val="EC4899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15984" y="4730496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Giao diện quá tải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15984" y="5023104"/>
            <a:ext cx="2331720" cy="830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Nhiều chữ làm người dùng bỏ qua thông tin chính.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07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Persona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Đại diện nhóm sinh viên cần quản lý nhiều môn và nhiều hạn nộp.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926080" cy="44348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37744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500" b="1">
                <a:solidFill>
                  <a:srgbClr val="101828"/>
                </a:solidFill>
                <a:latin typeface="Arial" panose="020B0604020202020204"/>
              </a:rPr>
              <a:t>Trần Văn Hiền</a:t>
            </a:r>
            <a:endParaRPr lang="en-US" sz="25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23774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Arial" panose="020B0604020202020204"/>
              </a:rPr>
              <a:t>Sinh viên năm </a:t>
            </a:r>
            <a:r>
              <a:rPr lang="en-US" sz="1400" b="0">
                <a:solidFill>
                  <a:srgbClr val="667085"/>
                </a:solidFill>
                <a:latin typeface="Arial" panose="020B0604020202020204"/>
              </a:rPr>
              <a:t>4</a:t>
            </a:r>
            <a:r>
              <a:rPr sz="1400" b="0">
                <a:solidFill>
                  <a:srgbClr val="667085"/>
                </a:solidFill>
                <a:latin typeface="Arial" panose="020B0604020202020204"/>
              </a:rPr>
              <a:t> ngành CNTT</a:t>
            </a:r>
            <a:endParaRPr sz="14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286000" cy="17183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Nộp bài đúng hạn</a:t>
            </a:r>
            <a:endParaRPr sz="2000"/>
          </a:p>
          <a:p>
            <a:pPr>
              <a:spcAft>
                <a:spcPts val="700"/>
              </a:spcAft>
              <a:defRPr sz="12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Biết hôm nay cần học gì</a:t>
            </a:r>
            <a:endParaRPr sz="2000"/>
          </a:p>
          <a:p>
            <a:pPr>
              <a:spcAft>
                <a:spcPts val="700"/>
              </a:spcAft>
              <a:defRPr sz="12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Không ôn thi sát giờ</a:t>
            </a:r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069080" y="1554480"/>
            <a:ext cx="30175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01828"/>
                </a:solidFill>
                <a:latin typeface="Arial" panose="020B0604020202020204"/>
              </a:rPr>
              <a:t>Hành vi hiện tại</a:t>
            </a:r>
            <a:endParaRPr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1938528"/>
            <a:ext cx="3337560" cy="184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Ghi deadline trong chat nhóm hoặc Google Calendar.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Dùng to-do list nhưng ít cập nhật tiến độ.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Thường học theo cảm giác thay vì kế hoạch.</a:t>
            </a:r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0175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01828"/>
                </a:solidFill>
                <a:latin typeface="Arial" panose="020B0604020202020204"/>
              </a:rPr>
              <a:t>Nhu cầu</a:t>
            </a:r>
            <a:endParaRPr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0" y="1938528"/>
            <a:ext cx="3429000" cy="19310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Một màn hình biết việc nào gấp.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Flow thêm deadline nhanh.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Nhắc nhở nhẹ, không gây áp lực.</a:t>
            </a:r>
            <a:endParaRPr sz="18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• Theo dõi tiến độ rõ bằng phần trăm.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4069080" y="4279392"/>
            <a:ext cx="7040880" cy="914400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535424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“Mình không thiếu app, mình thiếu một chỗ cho biết nên làm gì tiếp theo.”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08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User Journey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Từ mở app đến hoàn thành một nhiệm vụ học tập.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Mở app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Biết hôm nay có gì</a:t>
            </a:r>
            <a:endParaRPr sz="1800"/>
          </a:p>
        </p:txBody>
      </p:sp>
      <p:sp>
        <p:nvSpPr>
          <p:cNvPr id="10" name="Rounded Rectangle 9"/>
          <p:cNvSpPr/>
          <p:nvPr/>
        </p:nvSpPr>
        <p:spPr>
          <a:xfrm>
            <a:off x="2852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54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4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Xem lịch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4096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Kiểm tra lớp và giờ trống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5138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0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40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Chọn deadline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40096" y="2852928"/>
            <a:ext cx="150876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Biết việc gấp</a:t>
            </a:r>
            <a:endParaRPr sz="1800"/>
          </a:p>
        </p:txBody>
      </p:sp>
      <p:sp>
        <p:nvSpPr>
          <p:cNvPr id="18" name="Rounded Rectangle 17"/>
          <p:cNvSpPr/>
          <p:nvPr/>
        </p:nvSpPr>
        <p:spPr>
          <a:xfrm>
            <a:off x="7424927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6095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26095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Lập ôn tập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6095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Chia nhỏ bài học</a:t>
            </a:r>
            <a:endParaRPr sz="1800"/>
          </a:p>
        </p:txBody>
      </p:sp>
      <p:sp>
        <p:nvSpPr>
          <p:cNvPr id="22" name="Rounded Rectangle 21"/>
          <p:cNvSpPr/>
          <p:nvPr/>
        </p:nvSpPr>
        <p:spPr>
          <a:xfrm>
            <a:off x="9710928" y="1783080"/>
            <a:ext cx="1901952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12096" y="1993392"/>
            <a:ext cx="384048" cy="292608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2096" y="2514600"/>
            <a:ext cx="15087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 panose="020B0604020202020204"/>
              </a:rPr>
              <a:t>Hoàn thành</a:t>
            </a:r>
            <a:endParaRPr sz="16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12096" y="2852928"/>
            <a:ext cx="150876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800"/>
              <a:t>Cập nhật tiến độ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09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Ideation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Ý tưởng được chuyển hóa thành các chức năng đã triển khai trong StudyFlow.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9225280" cy="1010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01828"/>
                </a:solidFill>
                <a:latin typeface="Arial" panose="020B0604020202020204"/>
              </a:defRPr>
            </a:pPr>
            <a:r>
              <a:rPr sz="1800"/>
              <a:t>• </a:t>
            </a:r>
            <a:r>
              <a:rPr lang="en-US" sz="1800"/>
              <a:t>StudyFlow </a:t>
            </a:r>
            <a:r>
              <a:rPr sz="1800"/>
              <a:t>giúp sinh viên thấy deadline quan trọng trước khi quá muộn?</a:t>
            </a:r>
            <a:endParaRPr sz="1800"/>
          </a:p>
          <a:p>
            <a:pPr>
              <a:spcAft>
                <a:spcPts val="700"/>
              </a:spcAft>
              <a:defRPr sz="1500">
                <a:solidFill>
                  <a:srgbClr val="101828"/>
                </a:solidFill>
                <a:latin typeface="Arial" panose="020B0604020202020204"/>
              </a:defRPr>
            </a:pPr>
            <a:r>
              <a:rPr sz="1800"/>
              <a:t>• </a:t>
            </a:r>
            <a:r>
              <a:rPr lang="en-US" sz="1800">
                <a:sym typeface="+mn-ea"/>
              </a:rPr>
              <a:t>StudyFlow </a:t>
            </a:r>
            <a:r>
              <a:rPr sz="1800"/>
              <a:t>kết nối lịch học với kế hoạch làm bài và ôn tập?</a:t>
            </a:r>
            <a:endParaRPr sz="1800"/>
          </a:p>
          <a:p>
            <a:pPr>
              <a:spcAft>
                <a:spcPts val="700"/>
              </a:spcAft>
              <a:defRPr sz="1500">
                <a:solidFill>
                  <a:srgbClr val="101828"/>
                </a:solidFill>
                <a:latin typeface="Arial" panose="020B0604020202020204"/>
              </a:defRPr>
            </a:pPr>
            <a:r>
              <a:rPr sz="1800"/>
              <a:t>• </a:t>
            </a:r>
            <a:r>
              <a:rPr lang="en-US" sz="1800">
                <a:sym typeface="+mn-ea"/>
              </a:rPr>
              <a:t>StudyFlow </a:t>
            </a:r>
            <a:r>
              <a:rPr sz="1800"/>
              <a:t>biến tiến độ học thành tín hiệu trực quan, dễ hiểu?</a:t>
            </a:r>
            <a:endParaRPr sz="180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94360" y="3113405"/>
          <a:ext cx="6955790" cy="336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245"/>
                <a:gridCol w="4360545"/>
              </a:tblGrid>
              <a:tr h="65976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Feature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Giá trị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Calendar views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Nhìn lịch theo ngày/tuần/tháng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Deadline badges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Hôm nay, 2 ngày, quá hạn rõ ràng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Progress bar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Biết mức độ hoàn thành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Ôn tập plan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Ôn tập theo mục tiêu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10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Low-Fi Design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Wireframe tập trung vào cấu trúc nội dung và flow chính trước khi xử lý visual.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0116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wfi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435608"/>
            <a:ext cx="1792224" cy="41239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78992" y="528523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Home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74920" y="1325880"/>
            <a:ext cx="20116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wfi_d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435608"/>
            <a:ext cx="1792224" cy="41239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239512" y="528523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Deadline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235440" y="1325880"/>
            <a:ext cx="20116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wfi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435608"/>
            <a:ext cx="1792224" cy="41239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400032" y="5285232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Ôn tập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11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Low-Fi Prototype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Low-Fi prototype dùng để kiểm chứng luồng cốt lõi trước khi hoàn thiện giao diện.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Home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88920" y="132588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50876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Lịch học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83480" y="132588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50876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Thêm lịch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88920" y="260604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7889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Deadline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83480" y="260604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27889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Chi tiết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88920" y="388620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406908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Ôn tập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83480" y="388620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406908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Kế hoạch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60920" y="2606040"/>
            <a:ext cx="15087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27889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01828"/>
                </a:solidFill>
                <a:latin typeface="Arial" panose="020B0604020202020204"/>
              </a:rPr>
              <a:t>Hoàn thành</a:t>
            </a:r>
            <a:endParaRPr sz="1050" b="1">
              <a:solidFill>
                <a:srgbClr val="101828"/>
              </a:solidFill>
              <a:latin typeface="Arial" panose="020B0604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 flipV="1">
            <a:off x="2240280" y="1609344"/>
            <a:ext cx="548640" cy="54864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40280" y="2157984"/>
            <a:ext cx="548640" cy="73152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40280" y="2157984"/>
            <a:ext cx="548640" cy="2011679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7680" y="1609344"/>
            <a:ext cx="68580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97680" y="2889504"/>
            <a:ext cx="68580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97680" y="4169663"/>
            <a:ext cx="68580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92240" y="2889504"/>
            <a:ext cx="86868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89720" y="1600200"/>
            <a:ext cx="16916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wfi_dead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48" y="1709928"/>
            <a:ext cx="1472184" cy="343814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281287" y="4892167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Wireframe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12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Usability Testing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Kiểm tra và xác nhận các luồng chính dễ hiểu, thao tác nhanh trên mobile.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270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5577840"/>
              </a:tblGrid>
              <a:tr h="66751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Task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Tiêu chí thành công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Kết quả/Insight</a:t>
                      </a:r>
                      <a:endParaRPr sz="20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Thêm deadline mới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Hoàn thành dưới 60 giây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Cần label rõ cho ngày/giờ đến hạn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Tìm deadline hôm nay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Không quá 2 lần tap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 Hôm nay giúp giảm thời gian tìm kiếm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Sửa tiến độ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Người dùng hiểu % hoàn thành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Progress bar nên đi kèm số %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Xem quá hạn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Nhận biết ngay rủi ro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Màu đỏ và badge Quá hạn hoạt động tốt</a:t>
                      </a:r>
                      <a:endParaRPr sz="18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13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Cải tiến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 panose="020B0604020202020204"/>
              </a:rPr>
              <a:t>Các cải tiến đã được áp dụng vào bản app hoàn thiện để tăng rõ ràng và tốc độ thao tác.</a:t>
            </a:r>
            <a:endParaRPr sz="14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495" y="1627505"/>
            <a:ext cx="3337560" cy="12623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Trước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646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Deadline chỉ là danh sách dài, khó biết việc nào gấp.</a:t>
            </a:r>
            <a:endParaRPr sz="1600"/>
          </a:p>
        </p:txBody>
      </p:sp>
      <p:sp>
        <p:nvSpPr>
          <p:cNvPr id="10" name="Rounded Rectangle 9"/>
          <p:cNvSpPr/>
          <p:nvPr/>
        </p:nvSpPr>
        <p:spPr>
          <a:xfrm>
            <a:off x="4453255" y="1627505"/>
            <a:ext cx="3337560" cy="126174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122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Sau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1224" y="2084832"/>
            <a:ext cx="2331720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400"/>
              <a:t>Tách Quá hạn, Sắp tới, Hôm nay, Tuần; thêm badge ngày còn lại.</a:t>
            </a:r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658495" y="3667125"/>
            <a:ext cx="3337560" cy="130683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831844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6464" y="383184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Trước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6464" y="412445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Form nhập nhiều text tự do.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4453255" y="3620770"/>
            <a:ext cx="3337560" cy="136271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36008" y="3785616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21224" y="37856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Sau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21224" y="407822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Dùng dropdown, date picker, time picker, chip ưu tiên.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14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High-Fi Design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ma_schedule_d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44168"/>
            <a:ext cx="1335024" cy="4215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450592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ma_schedule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44168"/>
            <a:ext cx="1335024" cy="42153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61104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ma_deadline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344168"/>
            <a:ext cx="1335024" cy="42153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71616" y="1234440"/>
            <a:ext cx="15544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gma_deadline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344168"/>
            <a:ext cx="1335024" cy="42153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0" y="15544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  <a:latin typeface="Arial" panose="020B0604020202020204"/>
              </a:rPr>
              <a:t>Design System</a:t>
            </a:r>
            <a:endParaRPr sz="18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108960" cy="2205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8px radius cho card/button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Primary blue #3478F6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Red cho quá hạn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Green cho hoàn thành</a:t>
            </a:r>
            <a:endParaRPr sz="2000"/>
          </a:p>
          <a:p>
            <a:pPr>
              <a:spcAft>
                <a:spcPts val="700"/>
              </a:spcAft>
              <a:defRPr sz="1300">
                <a:solidFill>
                  <a:srgbClr val="667085"/>
                </a:solidFill>
                <a:latin typeface="Arial" panose="020B0604020202020204"/>
              </a:defRPr>
            </a:pPr>
            <a:r>
              <a:rPr sz="2000"/>
              <a:t>• Typography rõ trên mobile</a:t>
            </a:r>
            <a:endParaRPr sz="2000"/>
          </a:p>
        </p:txBody>
      </p:sp>
      <p:sp>
        <p:nvSpPr>
          <p:cNvPr id="20" name="Rounded Rectangle 19"/>
          <p:cNvSpPr/>
          <p:nvPr/>
        </p:nvSpPr>
        <p:spPr>
          <a:xfrm>
            <a:off x="8229600" y="4389120"/>
            <a:ext cx="841248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 panose="020B0604020202020204"/>
              </a:rPr>
              <a:t>#3478F6</a:t>
            </a:r>
            <a:endParaRPr sz="85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89720" y="4389120"/>
            <a:ext cx="841248" cy="310896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EF4444"/>
                </a:solidFill>
                <a:latin typeface="Arial" panose="020B0604020202020204"/>
              </a:rPr>
              <a:t>#EF4444</a:t>
            </a:r>
            <a:endParaRPr sz="850" b="1">
              <a:solidFill>
                <a:srgbClr val="EF4444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149840" y="4389120"/>
            <a:ext cx="841248" cy="310896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C55E"/>
                </a:solidFill>
                <a:latin typeface="Arial" panose="020B0604020202020204"/>
              </a:rPr>
              <a:t>#22C55E</a:t>
            </a:r>
            <a:endParaRPr sz="850" b="1">
              <a:solidFill>
                <a:srgbClr val="22C55E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15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High-Fi Prototype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90955"/>
            <a:ext cx="8961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rial" panose="020B0604020202020204"/>
              </a:rPr>
              <a:t>High-Fi prototype thể hiện đầy đủ các trạng thái và được chuyển thành app Flutter hoàn chỉnh.</a:t>
            </a:r>
            <a:endParaRPr sz="16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84378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ma_deadline_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106" y="2370328"/>
            <a:ext cx="1197864" cy="366674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1947418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8897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deadline_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625" y="2370328"/>
            <a:ext cx="1197864" cy="3666744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3821937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33417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ma_deadlin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145" y="2370328"/>
            <a:ext cx="1197864" cy="3666744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5696457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07937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ma_deadline_a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665" y="2370328"/>
            <a:ext cx="1197864" cy="3666744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7570977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82458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ma_deadline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186" y="2370328"/>
            <a:ext cx="1197864" cy="3666744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9445498" y="4180840"/>
            <a:ext cx="347472" cy="0"/>
          </a:xfrm>
          <a:prstGeom prst="line">
            <a:avLst/>
          </a:prstGeom>
          <a:ln w="1524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56978" y="2260600"/>
            <a:ext cx="141732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gma_deadline_emp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706" y="2370328"/>
            <a:ext cx="1197864" cy="3666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16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Accessibility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Thiết kế để sinh viên thao tác nhanh và đọc được trong nhiều bối cảnh.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58495" y="1627505"/>
            <a:ext cx="3337560" cy="1209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Contrast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426464" y="208483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Màu chữ chính đậm, trạng thái dùng màu + text badge.</a:t>
            </a:r>
            <a:endParaRPr sz="1600"/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453255" y="1627505"/>
            <a:ext cx="3337560" cy="120904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463600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22122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Touch target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22122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Button, icon và chip ưu tiên khoảng 40-52px.</a:t>
            </a:r>
            <a:endParaRPr sz="1600"/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248015" y="1627505"/>
            <a:ext cx="3337560" cy="1209040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10"/>
            </p:custDataLst>
          </p:nvPr>
        </p:nvSpPr>
        <p:spPr>
          <a:xfrm>
            <a:off x="8430768" y="1792224"/>
            <a:ext cx="457200" cy="256032"/>
          </a:xfrm>
          <a:prstGeom prst="round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901598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Readable copy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015984" y="2084832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Nhãn ngắn: Hôm nay, Quá hạn, Thêm Deadline.</a:t>
            </a:r>
            <a:endParaRPr sz="1600"/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658495" y="3163570"/>
            <a:ext cx="3337560" cy="1289685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>
            <p:custDataLst>
              <p:tags r:id="rId14"/>
            </p:custDataLst>
          </p:nvPr>
        </p:nvSpPr>
        <p:spPr>
          <a:xfrm>
            <a:off x="841248" y="3328416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1426464" y="33284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Navigation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1426464" y="362102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Bottom nav nhất quán cho các module StudyFlow.</a:t>
            </a:r>
            <a:endParaRPr sz="1600"/>
          </a:p>
        </p:txBody>
      </p:sp>
      <p:sp>
        <p:nvSpPr>
          <p:cNvPr id="22" name="Rounded Rectangle 21"/>
          <p:cNvSpPr/>
          <p:nvPr>
            <p:custDataLst>
              <p:tags r:id="rId17"/>
            </p:custDataLst>
          </p:nvPr>
        </p:nvSpPr>
        <p:spPr>
          <a:xfrm>
            <a:off x="4453255" y="3163570"/>
            <a:ext cx="3337560" cy="128460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18"/>
            </p:custDataLst>
          </p:nvPr>
        </p:nvSpPr>
        <p:spPr>
          <a:xfrm>
            <a:off x="4636008" y="3328416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>
            <p:custDataLst>
              <p:tags r:id="rId19"/>
            </p:custDataLst>
          </p:nvPr>
        </p:nvSpPr>
        <p:spPr>
          <a:xfrm>
            <a:off x="5221224" y="33284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Error prevention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5221224" y="3621024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Date/time picker, dropdown môn học, validation form.</a:t>
            </a:r>
            <a:endParaRPr sz="1600"/>
          </a:p>
        </p:txBody>
      </p:sp>
      <p:sp>
        <p:nvSpPr>
          <p:cNvPr id="26" name="Rounded Rectangle 25"/>
          <p:cNvSpPr/>
          <p:nvPr>
            <p:custDataLst>
              <p:tags r:id="rId21"/>
            </p:custDataLst>
          </p:nvPr>
        </p:nvSpPr>
        <p:spPr>
          <a:xfrm>
            <a:off x="8248015" y="3163570"/>
            <a:ext cx="3337560" cy="1238885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>
            <p:custDataLst>
              <p:tags r:id="rId22"/>
            </p:custDataLst>
          </p:nvPr>
        </p:nvSpPr>
        <p:spPr>
          <a:xfrm>
            <a:off x="8430768" y="3328416"/>
            <a:ext cx="457200" cy="256032"/>
          </a:xfrm>
          <a:prstGeom prst="round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>
            <p:custDataLst>
              <p:tags r:id="rId23"/>
            </p:custDataLst>
          </p:nvPr>
        </p:nvSpPr>
        <p:spPr>
          <a:xfrm>
            <a:off x="9015984" y="332841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State feedback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>
            <p:custDataLst>
              <p:tags r:id="rId24"/>
            </p:custDataLst>
          </p:nvPr>
        </p:nvSpPr>
        <p:spPr>
          <a:xfrm>
            <a:off x="9015984" y="3621024"/>
            <a:ext cx="233172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Badge, progress bar và empty state rõ.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17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Demo mobile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Kịch bản demo app hoàn thiện trong phần trình bày.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303520" cy="3526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Mở app và xem deadline chưa hoàn thành.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Chuyển tab Hôm nay để thấy Quiz HTML/CSS.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Mở chi tiết deadline và tăng tiến độ.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Thêm một deadline mới với ngày, giờ, mức ưu tiên.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Chuyển sang lịch học để xem ngày/tuần/tháng.</a:t>
            </a:r>
            <a:endParaRPr sz="2000"/>
          </a:p>
          <a:p>
            <a:pPr>
              <a:spcAft>
                <a:spcPts val="700"/>
              </a:spcAft>
              <a:defRPr sz="1600">
                <a:solidFill>
                  <a:srgbClr val="101828"/>
                </a:solidFill>
                <a:latin typeface="Arial" panose="020B0604020202020204"/>
              </a:defRPr>
            </a:pPr>
            <a:r>
              <a:rPr sz="2000"/>
              <a:t>• Kết luận bằng trạng thái quá hạn và kế hoạch ôn tập.</a:t>
            </a:r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492240" y="1207008"/>
            <a:ext cx="155448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deadline_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1316736"/>
            <a:ext cx="1335024" cy="41696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56832" y="5212080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0" y="1207008"/>
            <a:ext cx="155448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deadlin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316736"/>
            <a:ext cx="1335024" cy="416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94192" y="5212080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966960" y="1207008"/>
            <a:ext cx="155448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ma_deadline_a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1316736"/>
            <a:ext cx="1335024" cy="41696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131552" y="5212080"/>
            <a:ext cx="160020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18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Code Implementation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Ứng dụng Flutter đã được triển khai với cấu trúc module rõ ràng, dễ bảo trì và mở rộng.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446520"/>
              </a:tblGrid>
              <a:tr h="6629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1600"/>
                        <a:t>Module</a:t>
                      </a:r>
                      <a:endParaRPr sz="16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1600"/>
                        <a:t>File/Folder</a:t>
                      </a:r>
                      <a:endParaRPr sz="16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rPr sz="1600"/>
                        <a:t>Vai trò</a:t>
                      </a:r>
                      <a:endParaRPr sz="1600"/>
                    </a:p>
                  </a:txBody>
                  <a:tcPr marL="50800" marR="50800" marT="38100" marB="38100">
                    <a:solidFill>
                      <a:srgbClr val="0C172B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Schedule Calendar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schedule_calendar_app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Đã hoàn thiện xem ngày/tuần/tháng, thêm/sửa lịch học, chi tiết lớp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Assignments Deadlines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assignments_deadlines_app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Đã hoàn thiện danh sách, hôm nay, tuần, quá hạn, thêm/sửa/chi tiết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Model layer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models/*.dart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Định nghĩa dữ liệu, trạng thái và logic cho lịch học/deadline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Screen layer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screens/*.dart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UI hoàn chỉnh, điều hướng, validation form và tương tác người dùng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Quality check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flutter analyze/test/build web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101828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Đã kiểm tra compile, analyze và test pass</a:t>
                      </a:r>
                      <a:endParaRPr sz="1400"/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577840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01828"/>
                </a:solidFill>
                <a:latin typeface="Arial" panose="020B0604020202020204"/>
              </a:rPr>
              <a:t>Hoàn thành: StudyFlow đã có UI, logic chính và các luồng demo mobile; sẵn sàng trình bày, bàn giao và mở rộng.</a:t>
            </a:r>
            <a:endParaRPr sz="15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19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Kết quả cuối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Sản phẩm hoàn thiện đã đáp ứng đầy đủ trải nghiệm cốt lõi của StudyFlow.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495" y="1627505"/>
            <a:ext cx="3855720" cy="1553845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9222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6464" y="179222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Hoàn thành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6464" y="2084832"/>
            <a:ext cx="233172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lang="en-US" sz="1600"/>
              <a:t>App Flutter hoàn chỉnh</a:t>
            </a:r>
            <a:endParaRPr lang="en-US" sz="1600"/>
          </a:p>
        </p:txBody>
      </p:sp>
      <p:sp>
        <p:nvSpPr>
          <p:cNvPr id="10" name="Rounded Rectangle 9"/>
          <p:cNvSpPr/>
          <p:nvPr/>
        </p:nvSpPr>
        <p:spPr>
          <a:xfrm>
            <a:off x="6217920" y="1490345"/>
            <a:ext cx="3834765" cy="172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673" y="1655064"/>
            <a:ext cx="457200" cy="256032"/>
          </a:xfrm>
          <a:prstGeom prst="roundRect">
            <a:avLst/>
          </a:prstGeom>
          <a:solidFill>
            <a:srgbClr val="3478F6"/>
          </a:solidFill>
          <a:ln w="9525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5889" y="165506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Tương tác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85889" y="194767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Thêm/sửa/xóa, lọc, tìm kiếm, cập nhật tiến độ, empty state.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658495" y="3683635"/>
            <a:ext cx="3856355" cy="137414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848354"/>
            <a:ext cx="457200" cy="256032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6464" y="3848354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Kiểm chứng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6464" y="4140962"/>
            <a:ext cx="233172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Analyzer sạch, widget test pass, build web thành công.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6217920" y="3609340"/>
            <a:ext cx="3810635" cy="1445895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3170" y="3844925"/>
            <a:ext cx="521970" cy="342900"/>
          </a:xfrm>
          <a:prstGeom prst="round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9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85635" y="3774440"/>
            <a:ext cx="2662555" cy="2813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 panose="020B0604020202020204"/>
              </a:rPr>
              <a:t>Giá trị</a:t>
            </a:r>
            <a:endParaRPr sz="14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5635" y="4066540"/>
            <a:ext cx="2662555" cy="98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667085"/>
                </a:solidFill>
                <a:latin typeface="Arial" panose="020B0604020202020204"/>
              </a:defRPr>
            </a:pPr>
            <a:r>
              <a:rPr sz="1600"/>
              <a:t>Dashboard học tập rõ hơn và ít bỏ sót việc quan trọng.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20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Reflection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667085"/>
                </a:solidFill>
                <a:latin typeface="Arial" panose="020B0604020202020204"/>
              </a:rPr>
              <a:t>Bài học chính trong quá trình chuyển Figma thành app Flutter hoàn thiện.</a:t>
            </a:r>
            <a:endParaRPr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583680" cy="3223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Thiết kế tốt cần trạng thái dữ liệu rõ: empty, overdue, today, upcoming.</a:t>
            </a:r>
            <a:endParaRPr sz="24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Sinh viên cần quyết định nhanh, nên ưu tiên hierarchy và badge trạng thái.</a:t>
            </a:r>
            <a:endParaRPr sz="24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Figma giúp định hình visual, nhưng code cần tách model/screen để dễ mở rộng.</a:t>
            </a:r>
            <a:endParaRPr sz="2400"/>
          </a:p>
          <a:p>
            <a:pPr>
              <a:spcAft>
                <a:spcPts val="700"/>
              </a:spcAft>
              <a:defRPr sz="170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Nên validate với người dùng thật để thay giả định bằng số liệu đáng tin cậy.</a:t>
            </a:r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2468880" cy="23774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3478F6"/>
                </a:solidFill>
                <a:latin typeface="Arial" panose="020B0604020202020204"/>
              </a:rPr>
              <a:t>Key takeaway</a:t>
            </a:r>
            <a:endParaRPr sz="1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8200" y="276148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01828"/>
                </a:solidFill>
                <a:latin typeface="Arial" panose="020B0604020202020204"/>
              </a:rPr>
              <a:t>Học tập chủ động bắt đầu từ việc biết rõ việc tiếp theo.</a:t>
            </a:r>
            <a:endParaRPr sz="1500" b="1">
              <a:solidFill>
                <a:srgbClr val="10182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 panose="020B0604020202020204"/>
              </a:rPr>
              <a:t>21</a:t>
            </a:r>
            <a:endParaRPr sz="10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01828"/>
                </a:solidFill>
                <a:latin typeface="Arial" panose="020B0604020202020204"/>
              </a:rPr>
              <a:t>Next Steps</a:t>
            </a:r>
            <a:endParaRPr sz="2700" b="1">
              <a:solidFill>
                <a:srgbClr val="101828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 panose="020B0604020202020204"/>
              </a:rPr>
              <a:t>Mở rộng sau hoàn thiện</a:t>
            </a:r>
            <a:endParaRPr sz="12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 panose="020B0604020202020204"/>
              </a:rPr>
              <a:t>StudyFlow</a:t>
            </a:r>
            <a:endParaRPr sz="800" b="1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132320" cy="4051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Bổ sung dữ liệu người dùng thật, lưu trữ local và đồng bộ cloud khi đăng nhập.</a:t>
            </a:r>
            <a:endParaRPr sz="2400"/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Hoàn thiện notification cho lớp học, deadline và phiên ôn tập.</a:t>
            </a:r>
            <a:endParaRPr sz="2400"/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Tích hợp import lịch từ Google Calendar/LMS hoặc file syllabus.</a:t>
            </a:r>
            <a:endParaRPr sz="2400"/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Nâng cấp gợi ý kế hoạch ôn tập tự động theo deadline, độ khó và thời gian trống.</a:t>
            </a:r>
            <a:endParaRPr sz="2400"/>
          </a:p>
          <a:p>
            <a:pPr>
              <a:spcAft>
                <a:spcPts val="700"/>
              </a:spcAft>
              <a:defRPr sz="1550">
                <a:solidFill>
                  <a:srgbClr val="101828"/>
                </a:solidFill>
                <a:latin typeface="Arial" panose="020B0604020202020204"/>
              </a:defRPr>
            </a:pPr>
            <a:r>
              <a:rPr sz="2400"/>
              <a:t>• Chạy usability test sau phát hành với sinh viên thật và đo time-on-task.</a:t>
            </a:r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8549640" y="1417320"/>
            <a:ext cx="13258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ma_schedule_emp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68" y="1527048"/>
            <a:ext cx="1106424" cy="29809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76945" y="4233545"/>
            <a:ext cx="1299210" cy="25590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Schedule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012680" y="1417320"/>
            <a:ext cx="13258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ma_deadline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1527048"/>
            <a:ext cx="1106424" cy="29809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177145" y="4233545"/>
            <a:ext cx="1162050" cy="25590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478F6"/>
                </a:solidFill>
                <a:latin typeface="Arial" panose="020B0604020202020204"/>
              </a:rPr>
              <a:t>Deadline</a:t>
            </a:r>
            <a:endParaRPr sz="800" b="1">
              <a:solidFill>
                <a:srgbClr val="3478F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Arial" panose="020B0604020202020204"/>
              </a:rPr>
              <a:t>Q&amp;A</a:t>
            </a:r>
            <a:endParaRPr sz="6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7320" y="269748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CAD5E1"/>
                </a:solidFill>
                <a:latin typeface="Arial" panose="020B0604020202020204"/>
              </a:rPr>
              <a:t>Cảm ơn thầy/cô và các bạn đã lắng nghe.</a:t>
            </a:r>
            <a:endParaRPr sz="2000" b="0">
              <a:solidFill>
                <a:srgbClr val="CAD5E1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00600" y="3429000"/>
            <a:ext cx="2560320" cy="384048"/>
          </a:xfrm>
          <a:prstGeom prst="roundRect">
            <a:avLst/>
          </a:prstGeom>
          <a:solidFill>
            <a:srgbClr val="1E40AF"/>
          </a:solidFill>
          <a:ln w="952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FDBFE"/>
                </a:solidFill>
                <a:latin typeface="Arial" panose="020B0604020202020204"/>
              </a:rPr>
              <a:t>StudyFlow</a:t>
            </a:r>
            <a:endParaRPr sz="1400" b="1">
              <a:solidFill>
                <a:srgbClr val="BFDBFE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2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3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4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5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6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7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8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9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0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1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2.xml><?xml version="1.0" encoding="utf-8"?>
<p:tagLst xmlns:p="http://schemas.openxmlformats.org/presentationml/2006/main">
  <p:tag name="KSO_WM_DIAGRAM_VIRTUALLY_FRAME" val="{&quot;height&quot;:104.7,&quot;left&quot;:51.839999999999996,&quot;top&quot;:128.15,&quot;width&quot;:860.4100000000001}"/>
</p:tagLst>
</file>

<file path=ppt/tags/tag13.xml><?xml version="1.0" encoding="utf-8"?>
<p:tagLst xmlns:p="http://schemas.openxmlformats.org/presentationml/2006/main">
  <p:tag name="TABLE_ENDDRAG_ORIGIN_RECT" val="545*265"/>
  <p:tag name="TABLE_ENDDRAG_RECT" val="210*262*545*265"/>
</p:tagLst>
</file>

<file path=ppt/tags/tag14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5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6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7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8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19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0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1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2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3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4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5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6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7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8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29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0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1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2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3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4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5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6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ags/tag37.xml><?xml version="1.0" encoding="utf-8"?>
<p:tagLst xmlns:p="http://schemas.openxmlformats.org/presentationml/2006/main">
  <p:tag name="KSO_WM_DIAGRAM_VIRTUALLY_FRAME" val="{&quot;height&quot;:222.5,&quot;left&quot;:51.839999999999996,&quot;top&quot;:128.15,&quot;width&quot;:860.41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8402</Words>
  <Application>WPS Presentation</Application>
  <PresentationFormat>On-screen Show (4:3)</PresentationFormat>
  <Paragraphs>630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TRƯƠNG PHI HOÀNG</cp:lastModifiedBy>
  <cp:revision>6</cp:revision>
  <dcterms:created xsi:type="dcterms:W3CDTF">2013-01-27T09:14:00Z</dcterms:created>
  <dcterms:modified xsi:type="dcterms:W3CDTF">2026-04-18T02:11:30Z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9EADE10D991345D59423E8A82E24E8AC_12</vt:lpwstr>
  </property>
  <property fmtid="{D5CDD505-2E9C-101B-9397-08002B2CF9AE}" pid="3" name="KSOProductBuildVer">
    <vt:lpwstr>1033-12.2.0.23196</vt:lpwstr>
  </property>
</Properties>
</file>