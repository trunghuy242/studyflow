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49808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3478F6"/>
                </a:solidFill>
                <a:latin typeface="Arial"/>
              </a:rPr>
              <a:t>UX/UI CASE STUDY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234440"/>
            <a:ext cx="58521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000" b="1">
                <a:solidFill>
                  <a:srgbClr val="101828"/>
                </a:solidFill>
                <a:latin typeface="Arial"/>
              </a:rPr>
              <a:t>StudyFlow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212848"/>
            <a:ext cx="59893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667085"/>
                </a:solidFill>
                <a:latin typeface="Arial"/>
              </a:rPr>
              <a:t>Ứng dụng hỗ trợ sinh viên quản lý lịch học, deadline và kế hoạch ôn tập.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182112"/>
            <a:ext cx="1417320" cy="347472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478F6"/>
                </a:solidFill>
                <a:latin typeface="Arial"/>
              </a:rPr>
              <a:t>Lịch học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31720" y="3182112"/>
            <a:ext cx="1417320" cy="347472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EF4444"/>
                </a:solidFill>
                <a:latin typeface="Arial"/>
              </a:rPr>
              <a:t>Deadline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0208" y="3182112"/>
            <a:ext cx="1508760" cy="347472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BF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22C55E"/>
                </a:solidFill>
                <a:latin typeface="Arial"/>
              </a:rPr>
              <a:t>Ôn tập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086600" y="658368"/>
            <a:ext cx="182880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51192" y="822960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Lịch học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1192" y="1225296"/>
            <a:ext cx="149961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79208" y="1335024"/>
            <a:ext cx="12435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478F6"/>
                </a:solidFill>
                <a:latin typeface="Arial"/>
              </a:rPr>
              <a:t>UX/UI 07:00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51192" y="1682496"/>
            <a:ext cx="14996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8" y="1792224"/>
            <a:ext cx="12435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Web Dev 09:45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51192" y="2139696"/>
            <a:ext cx="14996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79208" y="2249424"/>
            <a:ext cx="12435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Database 13:00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1097280"/>
            <a:ext cx="1828800" cy="4206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261872"/>
            <a:ext cx="14996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Deadline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08592" y="1664208"/>
            <a:ext cx="149961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1773936"/>
            <a:ext cx="12435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EF4444"/>
                </a:solidFill>
                <a:latin typeface="Arial"/>
              </a:rPr>
              <a:t>Quiz hôm nay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08592" y="2121408"/>
            <a:ext cx="14996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36608" y="2231136"/>
            <a:ext cx="12435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UX Research 2 ngày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08592" y="2578608"/>
            <a:ext cx="14996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36608" y="2688336"/>
            <a:ext cx="12435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Project DB 5 ngày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6053328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67085"/>
                </a:solidFill>
                <a:latin typeface="Arial"/>
              </a:rPr>
              <a:t>Prepared for StudyFlow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Tổng quan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StudyFlow gom các việc học quan trọng vào một trải nghiệm mobile thống nhất.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246120" cy="111556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773936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Lịch học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Xem ngày/tuần/tháng, thêm/sửa lớp, phòng học, giảng viên.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246120" cy="1115568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6008" y="1773936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Theo dõi bài tập, mức ưu tiên, quá hạn, tiến độ hoàn thành.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72768"/>
            <a:ext cx="3246120" cy="1115568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5047" y="1773936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Kế hoạch ôn tập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Chia nhỏ mục tiêu học, nhắc ôn tập, theo dõi tiến độ.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Sinh viên cần học chủ động hơn nhưng thông tin bị phân tán.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400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Lịch học, bài tập, nhắc nhở và tài liệu nằm ở nhiều app khác nhau.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Deadline đến gần nhưng không được ưu tiên rõ theo ngày/tuần.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Ôn tập thường bị động, chỉ bắt đầu khi sát kiểm tra.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Quá nhiều việc nhỏ khiến người dùng không biết bắt đầu từ đâu.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219456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490472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Vấn đề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892808"/>
            <a:ext cx="186537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0025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EF4444"/>
                </a:solidFill>
                <a:latin typeface="Arial"/>
              </a:rPr>
              <a:t>Tổng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3500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4597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Theo dõi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28072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9169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Hoàn thành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Mục tiêu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Tạo công cụ giúp sinh viên học có kế hoạch, đúng hạn và ít căng thẳng hơn.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400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Giảm việc quên lịch học, deadline và phiên ôn tập quan trọng.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Hiển thị ưu tiên rõ ràng theo hôm nay, tuần này và quá hạn.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Cho phép thêm/sửa/xóa nhanh trên mobile với ít bước thao tác.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Tạo cảm giác tiến bộ bằng trạng thái, phần trăm hoàn thành và checklist.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Thiết kế dễ tiếp cận: chữ rõ, tương phản tốt, vùng chạm đủ lớn.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219456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490472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Mục tiêu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892808"/>
            <a:ext cx="186537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0025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  <a:latin typeface="Arial"/>
              </a:rPr>
              <a:t>Tổng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3500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4597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Theo dõi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28072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9169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Hoàn thành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Nghiên cứu người dùng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Tổng hợp insight định tính cho nhóm người dùng sinh viên đại học.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508760"/>
          <a:ext cx="1092708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880360"/>
                <a:gridCol w="6035040"/>
              </a:tblGrid>
              <a:tr h="61264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Phương pháp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Mục đích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Insight chính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Interview 1:1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Hiểu thói quen lập kế hoạch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Sinh viên dùng nhiều công cụ nhưng bỏ sót cập nhật.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Survey nhanh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Xác định tần suất quên deadline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Deadline và lịch học là nhu cầu thường xuyên nhất.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Desk research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So sánh app hiện có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Ít app gom lịch học + deadline + ôn tập trong UX mobile gọn.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Usability test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Kiểm tra flow thêm deadline/lịch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CTA rõ và trạng thái quá hạn giúp người dùng hiểu nhanh.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956048"/>
            <a:ext cx="10241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667085"/>
                </a:solidFill>
                <a:latin typeface="Arial"/>
              </a:defRPr>
            </a:pPr>
            <a:r>
              <a:t>Ghi chú: nếu nhóm đã khảo sát thực tế, có thể thay phần này bằng số liệu thật.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Phân tích đối thủ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Ít nhất 20 app được chia theo nhóm cạnh tranh trực tiếp và gián tiếp.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06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8912" y="1298448"/>
          <a:ext cx="11292839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3246120"/>
                <a:gridCol w="2743200"/>
                <a:gridCol w="3977639"/>
              </a:tblGrid>
              <a:tr h="69342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Nhóm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Ứng dụng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Điểm mạnh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Khoảng trống cho StudyFlow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Student planner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MyStudyLife, myHomework, Power Planner, iStudiez Pro, School Planner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Theo dõi lớp, bài tập, nhắc nhở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UX có thể cũ, chưa nhấn mạnh kế hoạch ôn tập cá nhân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Deadline tracker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Assignment Planner, Egenda, Class Timetable, Studious, Homework Planner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Tập trung bài tập/hạn nộp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Ít kết nối với lịch học và tiến độ ôn thi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Productivity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Todoist, TickTick, Microsoft To Do, Any.do, Trello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Task mạnh, nhắc nhở, label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Không sinh viên-hóa ngữ cảnh môn học/lớp học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Calendar/planning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Google Calendar, Notion, Structured, FlowSavvy, Apple Calendar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Lịch, time blocking, template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Cần tự cấu hình, dễ quá tải với sinh viên mới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Study tools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Quizlet, Anki, Forest, Focus To-Do, Google Classroom, Canvas Student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Ôn tập, tập trung, LMS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Không gom toàn bộ journey học tập cá nhân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85800" y="5623560"/>
            <a:ext cx="105156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01828"/>
                </a:solidFill>
                <a:latin typeface="Arial"/>
              </a:rPr>
              <a:t>Cơ hội: StudyFlow nên là “student command center”, không chỉ là to-do list.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Pain Points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Những nỗi đau chính được ưu tiên giải quyết trong phiên bản đầu.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246120" cy="1115568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773936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Quên deadline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Không thấy mức độ khẩn cấp trước khi quá muộn.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246120" cy="1115568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6008" y="1773936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Không biết ưu tiên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Không rõ hôm nay nên học gì trước.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72768"/>
            <a:ext cx="3246120" cy="111556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5047" y="1773936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Khó cập nhật lịch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Lịch học thay đổi nhưng thao tác sửa mất thời gian.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45536"/>
            <a:ext cx="3246120" cy="1115568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3346704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3467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Bài lớn bị mơ hồ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3648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Không chia nhỏ tiến độ thành các bước làm được.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145536"/>
            <a:ext cx="3246120" cy="111556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36008" y="3346704"/>
            <a:ext cx="384048" cy="384048"/>
          </a:xfrm>
          <a:prstGeom prst="ellipse">
            <a:avLst/>
          </a:prstGeom>
          <a:solidFill>
            <a:srgbClr val="06B6D4"/>
          </a:solidFill>
          <a:ln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33467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Ôn tập thiếu kế hoạch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3648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Thiếu nhắc nhở và mục tiêu theo ngày.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145536"/>
            <a:ext cx="3246120" cy="1115568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85047" y="3346704"/>
            <a:ext cx="384048" cy="384048"/>
          </a:xfrm>
          <a:prstGeom prst="ellipse">
            <a:avLst/>
          </a:prstGeom>
          <a:solidFill>
            <a:srgbClr val="EC4899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1" y="33467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Giao diện quá tải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1" y="3648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Nhiều chữ làm người dùng bỏ qua thông tin chính.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Persona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Đại diện nhóm sinh viên cần quản lý nhiều môn và nhiều hạn nộp cùng lúc.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417320"/>
            <a:ext cx="2743200" cy="429768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37360"/>
            <a:ext cx="21945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  <a:latin typeface="Arial"/>
              </a:rPr>
              <a:t>Minh Anh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1284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67085"/>
                </a:solidFill>
                <a:latin typeface="Arial"/>
              </a:rPr>
              <a:t>Sinh viên năm 2 ngành CNTT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2148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101828"/>
                </a:solidFill>
                <a:latin typeface="Arial"/>
              </a:defRPr>
            </a:pPr>
            <a:r>
              <a:t>• Nộp bài đúng hạn</a:t>
            </a:r>
          </a:p>
          <a:p>
            <a:pPr>
              <a:spcAft>
                <a:spcPts val="800"/>
              </a:spcAft>
              <a:defRPr sz="1200">
                <a:solidFill>
                  <a:srgbClr val="101828"/>
                </a:solidFill>
                <a:latin typeface="Arial"/>
              </a:defRPr>
            </a:pPr>
            <a:r>
              <a:t>• Biết hôm nay cần học gì</a:t>
            </a:r>
          </a:p>
          <a:p>
            <a:pPr>
              <a:spcAft>
                <a:spcPts val="800"/>
              </a:spcAft>
              <a:defRPr sz="1200">
                <a:solidFill>
                  <a:srgbClr val="101828"/>
                </a:solidFill>
                <a:latin typeface="Arial"/>
              </a:defRPr>
            </a:pPr>
            <a:r>
              <a:t>• Không ôn thi sát giờ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508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/>
              </a:rPr>
              <a:t>Hành vi hiện tại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1874519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Ghi deadline trong chat nhóm hoặc Google Calendar.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Dùng to-do list nhưng ít cập nhật tiến độ.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Thường học theo cảm giác thay vì kế hoạch.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15087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Arial"/>
              </a:rPr>
              <a:t>Nhu cầu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1874519"/>
            <a:ext cx="34747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Một màn hình biết việc nào gấp.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Flow thêm deadline nhanh.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Nhắc nhở nhẹ, không gây áp lực.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Theo dõi tiến độ rõ bằng phần trăm.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86200" y="4160520"/>
            <a:ext cx="7223760" cy="1005840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416552"/>
            <a:ext cx="65836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101828"/>
                </a:solidFill>
                <a:latin typeface="Arial"/>
              </a:rPr>
              <a:t>“Mình không thiếu app, mình thiếu một chỗ cho biết nên làm gì tiếp theo.”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User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Hành trình từ khi mở app đến khi hoàn thành một nhiệm vụ học tập.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737360"/>
            <a:ext cx="1874519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58952" y="1938528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871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rial"/>
              </a:rPr>
              <a:t>Mở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5292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667085"/>
                </a:solidFill>
                <a:latin typeface="Arial"/>
              </a:defRPr>
            </a:pPr>
            <a:r>
              <a:t>Biết hôm nay có gì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" y="3703320"/>
            <a:ext cx="1005840" cy="256032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478F6"/>
                </a:solidFill>
                <a:latin typeface="Arial"/>
              </a:rPr>
              <a:t>Lo lắng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737360"/>
            <a:ext cx="1874519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26664" y="1938528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6664" y="24871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rial"/>
              </a:rPr>
              <a:t>Xem lịch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6664" y="285292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667085"/>
                </a:solidFill>
                <a:latin typeface="Arial"/>
              </a:defRPr>
            </a:pPr>
            <a:r>
              <a:t>Kiểm tra lớp và giờ trống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26664" y="3703320"/>
            <a:ext cx="1005840" cy="256032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478F6"/>
                </a:solidFill>
                <a:latin typeface="Arial"/>
              </a:rPr>
              <a:t>Ổn định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9784" y="1737360"/>
            <a:ext cx="1874519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94376" y="1938528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94376" y="24871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rial"/>
              </a:rPr>
              <a:t>Chọn deadline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285292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667085"/>
                </a:solidFill>
                <a:latin typeface="Arial"/>
              </a:defRPr>
            </a:pPr>
            <a:r>
              <a:t>Biết việc gấp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94376" y="3703320"/>
            <a:ext cx="1005840" cy="256032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478F6"/>
                </a:solidFill>
                <a:latin typeface="Arial"/>
              </a:rPr>
              <a:t>Tập trung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97496" y="1737360"/>
            <a:ext cx="1874519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62088" y="1938528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2088" y="24871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rial"/>
              </a:rPr>
              <a:t>Lập ôn tập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62088" y="285292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667085"/>
                </a:solidFill>
                <a:latin typeface="Arial"/>
              </a:defRPr>
            </a:pPr>
            <a:r>
              <a:t>Chia nhỏ bài học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62088" y="3703320"/>
            <a:ext cx="1005840" cy="256032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478F6"/>
                </a:solidFill>
                <a:latin typeface="Arial"/>
              </a:rPr>
              <a:t>Chủ động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65208" y="1737360"/>
            <a:ext cx="1874519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829800" y="1938528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2487168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01828"/>
                </a:solidFill>
                <a:latin typeface="Arial"/>
              </a:rPr>
              <a:t>Hoàn thành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29800" y="2852928"/>
            <a:ext cx="16002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50">
                <a:solidFill>
                  <a:srgbClr val="667085"/>
                </a:solidFill>
                <a:latin typeface="Arial"/>
              </a:defRPr>
            </a:pPr>
            <a:r>
              <a:t>Cập nhật tiến độ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29800" y="3703320"/>
            <a:ext cx="1005840" cy="256032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478F6"/>
                </a:solidFill>
                <a:latin typeface="Arial"/>
              </a:rPr>
              <a:t>Nhẹ nhõm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919472"/>
            <a:ext cx="10332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01828"/>
                </a:solidFill>
                <a:latin typeface="Arial"/>
              </a:rPr>
              <a:t>Design implication: home screen phải trả lời nhanh “hôm nay cần làm gì?”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Ideation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Ý tưởng được tạo từ pain points và chuyển thành feature ưu tiên.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400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HMW giúp sinh viên thấy deadline quan trọng trước khi quá muộn?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HMW kết nối lịch học với kế hoạch làm bài và ôn tập?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HMW biến tiến độ học thành tín hiệu trực quan, dễ hiểu?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Feature ưu tiên: calendar view, deadline badges, progress bar, review plan.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219456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490472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Ideation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892808"/>
            <a:ext cx="186537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0025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478F6"/>
                </a:solidFill>
                <a:latin typeface="Arial"/>
              </a:rPr>
              <a:t>Tổng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3500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4597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Theo dõi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28072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9169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Hoàn thành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Low-Fi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Wireframe tập trung vào cấu trúc nội dung và flow chính trước khi xử lý visual.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417320"/>
            <a:ext cx="23317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81912"/>
            <a:ext cx="20025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Lịch học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87552" y="1984248"/>
            <a:ext cx="200253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0939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478F6"/>
                </a:solidFill>
                <a:latin typeface="Arial"/>
              </a:rPr>
              <a:t>Segment: Ngày/Tuần/Tháng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87552" y="2441448"/>
            <a:ext cx="200253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5511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Class card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2898648"/>
            <a:ext cx="200253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30083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Bottom nav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92040" y="1417320"/>
            <a:ext cx="23317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56632" y="1581912"/>
            <a:ext cx="20025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Deadline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6632" y="1984248"/>
            <a:ext cx="200253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0939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EF4444"/>
                </a:solidFill>
                <a:latin typeface="Arial"/>
              </a:rPr>
              <a:t>Search + filter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56632" y="2441448"/>
            <a:ext cx="200253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84648" y="25511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Overdue section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56632" y="2898648"/>
            <a:ext cx="200253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84648" y="30083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Upcoming cards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1417320"/>
            <a:ext cx="233172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1581912"/>
            <a:ext cx="200253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Ôn tập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2" y="1984248"/>
            <a:ext cx="200253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53728" y="20939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  <a:latin typeface="Arial"/>
              </a:rPr>
              <a:t>Goal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25712" y="2441448"/>
            <a:ext cx="200253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53728" y="25511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Session list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2898648"/>
            <a:ext cx="200253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53728" y="3008376"/>
            <a:ext cx="1746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Progress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Low-Fi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Prototype kiểm tra luồng tác vụ cốt lõi trước khi đầu tư high-fi.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4825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Home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15798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4825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Lịch học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32120" y="215798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936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4825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Thêm lịch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75320" y="215798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5256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04825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Deadline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8269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Chi tiết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339242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66160" y="306324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28269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Ôn tập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32120" y="339242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306324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28269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Kế hoạch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75320" y="339242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52560" y="306324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28269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Hoàn thành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Usability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Kiểm tra khả năng hiểu flow và thao tác nhanh trên mobile.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2708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880360"/>
                <a:gridCol w="5577840"/>
              </a:tblGrid>
              <a:tr h="66751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Task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Tiêu chí thành công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Kết quả/Insight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Thêm deadline mới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Hoàn thành dưới 60 giây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Cần label rõ cho ngày/giờ đến hạn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Tìm deadline hôm nay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Không quá 2 lần tap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Tab Hôm nay giúp giảm thời gian tìm kiếm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Sửa tiến độ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Người dùng hiểu % hoàn thành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Progress bar nên đi kèm số %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Xem quá hạn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Nhận biết ngay rủi ro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Màu đỏ và badge Quá hạn hoạt động tốt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074920"/>
            <a:ext cx="99669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01828"/>
                </a:solidFill>
                <a:latin typeface="Arial"/>
              </a:defRPr>
            </a:pPr>
            <a:r>
              <a:t>Khuyến nghị: ưu tiên trạng thái rõ, CTA thêm mới nổi bật, giảm nhập liệu bằng dropdown và date/time picker.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Cải tiến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Những thay đổi sau vòng test để tăng rõ ràng và tốc độ thao tác.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246120" cy="1115568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773936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Trước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Deadline chỉ là danh sách dài, khó biết việc nào gấp.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246120" cy="1115568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6008" y="1773936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Sau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Tách Quá hạn, Sắp tới, Hôm nay, Tuần.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72768"/>
            <a:ext cx="3246120" cy="1115568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5047" y="1773936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Trước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Form nhập nhiều text tự do.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45536"/>
            <a:ext cx="3246120" cy="1115568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3346704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3467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Sau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3648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Dùng dropdown, date picker, time picker, chip ưu tiên.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High-Fi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Visual direction dựa trên Figma: mobile-first, card rõ, màu trạng thái dễ nhận biết.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205740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99032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Schedule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" y="1801368"/>
            <a:ext cx="172821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9110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478F6"/>
                </a:solidFill>
                <a:latin typeface="Arial"/>
              </a:rPr>
              <a:t>Ngày/Tuần/Tháng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" y="2258568"/>
            <a:ext cx="17282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3682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UX/UI Design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" y="2715768"/>
            <a:ext cx="17282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8254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Database Systems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1234440"/>
            <a:ext cx="205740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27832" y="1399032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Deadlines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27832" y="1801368"/>
            <a:ext cx="172821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19110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EF4444"/>
                </a:solidFill>
                <a:latin typeface="Arial"/>
              </a:rPr>
              <a:t>Quá hạn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27832" y="2258568"/>
            <a:ext cx="17282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55848" y="23682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Assignment UX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27832" y="2715768"/>
            <a:ext cx="17282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55848" y="28254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Quiz hôm nay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40680" y="1234440"/>
            <a:ext cx="205740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05272" y="1399032"/>
            <a:ext cx="172821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Detail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05272" y="1801368"/>
            <a:ext cx="172821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3288" y="19110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  <a:latin typeface="Arial"/>
              </a:rPr>
              <a:t>Progress 60%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05272" y="2258568"/>
            <a:ext cx="17282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33288" y="23682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Chỉnh sửa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05272" y="2715768"/>
            <a:ext cx="172821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33288" y="2825496"/>
            <a:ext cx="147218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Hoàn thành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1508760"/>
            <a:ext cx="30175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101828"/>
                </a:solidFill>
                <a:latin typeface="Arial"/>
              </a:rPr>
              <a:t>Design System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1920240"/>
            <a:ext cx="3200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8px radius cho card/button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Primary blue #3478F6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Red cho quá hạn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Green cho hoàn thành</a:t>
            </a:r>
          </a:p>
          <a:p>
            <a:pPr>
              <a:spcAft>
                <a:spcPts val="800"/>
              </a:spcAft>
              <a:defRPr sz="1300">
                <a:solidFill>
                  <a:srgbClr val="667085"/>
                </a:solidFill>
                <a:latin typeface="Arial"/>
              </a:defRPr>
            </a:pPr>
            <a:r>
              <a:t>• Typography rõ trên mobile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46720" y="4343400"/>
            <a:ext cx="822960" cy="310896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3478F6"/>
                </a:solidFill>
                <a:latin typeface="Arial"/>
              </a:rPr>
              <a:t>#3478F6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06840" y="4343400"/>
            <a:ext cx="822960" cy="310896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FFF1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EF4444"/>
                </a:solidFill>
                <a:latin typeface="Arial"/>
              </a:rPr>
              <a:t>#EF4444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66960" y="4343400"/>
            <a:ext cx="822960" cy="310896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BF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50" b="1">
                <a:solidFill>
                  <a:srgbClr val="22C55E"/>
                </a:solidFill>
                <a:latin typeface="Arial"/>
              </a:rPr>
              <a:t>#22C55E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High-Fi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Prototype hoàn thiện mô phỏng đầy đủ các trạng thái người dùng sẽ gặp.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4825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Schedule flow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88920" y="215798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204825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Deadline flow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32120" y="215798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30936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204825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Review flow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75320" y="215798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52560" y="182880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52560" y="204825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Empty state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06324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28269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Add/Edit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88920" y="339242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566160" y="306324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28269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Detail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532120" y="339242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309360" y="306324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28269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Progress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275320" y="3392424"/>
            <a:ext cx="731520" cy="0"/>
          </a:xfrm>
          <a:prstGeom prst="line">
            <a:avLst/>
          </a:prstGeom>
          <a:ln w="19050">
            <a:solidFill>
              <a:srgbClr val="3478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9052560" y="3063240"/>
            <a:ext cx="1965960" cy="65836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282696"/>
            <a:ext cx="1965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101828"/>
                </a:solidFill>
                <a:latin typeface="Arial"/>
              </a:rPr>
              <a:t>Complete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Thiết kế để sinh viên thao tác nhanh và đọc được trong nhiều bối cảnh.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246120" cy="111556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773936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Contrast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Màu chữ chính đậm, trạng thái dùng màu + text badge.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246120" cy="1115568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6008" y="1773936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Touch target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Button, icon và chip ưu tiên khoảng 40-52px.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72768"/>
            <a:ext cx="3246120" cy="1115568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5047" y="1773936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Readable copy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Nhãn ngắn: Hôm nay, Quá hạn, Thêm Deadline.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45536"/>
            <a:ext cx="3246120" cy="111556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3346704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3467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Navigation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3648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Bottom nav nhất quán cho các module StudyFlow.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34840" y="3145536"/>
            <a:ext cx="3246120" cy="1115568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36008" y="3346704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48072" y="33467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Error prevention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48072" y="3648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Date/time picker, dropdown môn học, validation form.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83879" y="3145536"/>
            <a:ext cx="3246120" cy="1115568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85047" y="3346704"/>
            <a:ext cx="384048" cy="384048"/>
          </a:xfrm>
          <a:prstGeom prst="ellipse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7111" y="33467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State feedback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97111" y="3648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Snack bar, badge, progress bar và empty state rõ.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Demo mobile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Kịch bản demo đề xuất cho phần trình bày.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400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Mở app và xem deadline chưa hoàn thành.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Chuyển tab Hôm nay để thấy Quiz HTML/CSS.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Mở chi tiết deadline và tăng tiến độ.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Thêm một deadline mới với ngày, giờ, mức ưu tiên.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Chuyển sang lịch học để xem ngày/tuần/tháng.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Kết luận bằng trạng thái quá hạn và kế hoạch ôn tập.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219456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490472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Demo mobile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892808"/>
            <a:ext cx="186537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0025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EF4444"/>
                </a:solidFill>
                <a:latin typeface="Arial"/>
              </a:rPr>
              <a:t>Tổng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3500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4597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Theo dõi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28072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9169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Hoàn thành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Code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Prototype Flutter đã được tách thành các app/folder riêng để dễ phát triển tiếp.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7160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6446520"/>
              </a:tblGrid>
              <a:tr h="662939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Module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File/Folder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Vai trò</a:t>
                      </a:r>
                    </a:p>
                  </a:txBody>
                  <a:tcPr marL="50800" marR="50800" marT="38100" marB="38100">
                    <a:solidFill>
                      <a:srgbClr val="3478F6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Schedule Calendar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schedule_calendar_app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Ngày/tuần/tháng, thêm/sửa lịch học, chi tiết lớp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Assignments Deadlines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assignments_deadlines_app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Deadline list, today, week, overdue, add/edit/detail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Model layer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models/*.dart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Định nghĩa dữ liệu ScheduleItem, DeadlineItem, priority, state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Screen layer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screens/*.dart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UI, navigation, form validation, interaction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Quality check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flutter analyze/test/build web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0">
                          <a:solidFill>
                            <a:srgbClr val="101828"/>
                          </a:solidFill>
                          <a:latin typeface="Arial"/>
                        </a:defRPr>
                      </a:pPr>
                      <a:r>
                        <a:t>Đảm bảo project compile và test pass</a:t>
                      </a:r>
                    </a:p>
                  </a:txBody>
                  <a:tcPr marL="50800" marR="508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577840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101828"/>
                </a:solidFill>
                <a:latin typeface="Arial"/>
              </a:rPr>
              <a:t>Hướng phát triển: gộp các module vào một StudyFlow app duy nhất, thêm lưu trữ local/backend và notification.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Kết quả cuối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Phiên bản hiện tại chứng minh được trải nghiệm cốt lõi của StudyFlow.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72768"/>
            <a:ext cx="3246120" cy="1115568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86968" y="1773936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Hoàn thành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2 app Flutter độc lập cho Schedule và Deadline từ Figma.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572768"/>
            <a:ext cx="3246120" cy="111556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36008" y="1773936"/>
            <a:ext cx="384048" cy="384048"/>
          </a:xfrm>
          <a:prstGeom prst="ellipse">
            <a:avLst/>
          </a:prstGeom>
          <a:solidFill>
            <a:srgbClr val="3478F6"/>
          </a:solidFill>
          <a:ln>
            <a:solidFill>
              <a:srgbClr val="3478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48072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Tương tác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48072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Thêm/sửa/xóa, lọc, tìm kiếm, cập nhật tiến độ, empty state.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572768"/>
            <a:ext cx="3246120" cy="1115568"/>
          </a:xfrm>
          <a:prstGeom prst="roundRect">
            <a:avLst/>
          </a:prstGeom>
          <a:solidFill>
            <a:srgbClr val="EBFFF3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85047" y="1773936"/>
            <a:ext cx="384048" cy="384048"/>
          </a:xfrm>
          <a:prstGeom prst="ellipse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97111" y="177393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Kiểm chứng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1" y="2075688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Analyzer sạch, widget test pass, build web thành công.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45536"/>
            <a:ext cx="3246120" cy="1115568"/>
          </a:xfrm>
          <a:prstGeom prst="roundRect">
            <a:avLst/>
          </a:prstGeom>
          <a:solidFill>
            <a:srgbClr val="FFF6DD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86968" y="3346704"/>
            <a:ext cx="384048" cy="384048"/>
          </a:xfrm>
          <a:prstGeom prst="ellipse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99032" y="334670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01828"/>
                </a:solidFill>
                <a:latin typeface="Arial"/>
              </a:rPr>
              <a:t>Giá trị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99032" y="3648456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080">
                <a:solidFill>
                  <a:srgbClr val="667085"/>
                </a:solidFill>
                <a:latin typeface="Arial"/>
              </a:defRPr>
            </a:pPr>
            <a:r>
              <a:t>Dashboard học tập rõ hơn và ít bỏ sót việc quan trọng.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20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Reflection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Bài học chính trong quá trình chuyển Figma thành prototype Flutter.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400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Thiết kế tốt cần trạng thái dữ liệu rõ: empty, overdue, today, upcoming.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Sinh viên cần quyết định nhanh, nên ưu tiên hierarchy và badge trạng thái.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Figma giúp định hình visual, nhưng code cần tách model/screen để dễ mở rộng.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Nên validate với người dùng thật để thay giả định bằng số liệu đáng tin cậy.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219456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490472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Reflection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892808"/>
            <a:ext cx="186537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0025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22C55E"/>
                </a:solidFill>
                <a:latin typeface="Arial"/>
              </a:rPr>
              <a:t>Tổng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3500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4597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Theo dõi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28072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9169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Hoàn thành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>
                <a:solidFill>
                  <a:srgbClr val="3478F6"/>
                </a:solidFill>
                <a:latin typeface="Arial"/>
              </a:rPr>
              <a:t>21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76656"/>
            <a:ext cx="81381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101828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89611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Arial"/>
              </a:rPr>
              <a:t>Các bước tiếp theo để biến prototype thành sản phẩm StudyFlow hoàn chỉnh.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46520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667085"/>
                </a:solidFill>
                <a:latin typeface="Arial"/>
              </a:rPr>
              <a:t>StudyFlow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6446520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>
                <a:solidFill>
                  <a:srgbClr val="667085"/>
                </a:solidFill>
                <a:latin typeface="Arial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64008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Gộp Schedule + Deadline + Review Plan vào một codebase Flutter.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Thêm lưu trữ local bằng SQLite/Hive và đồng bộ cloud khi đăng nhập.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Tích hợp notification cho lớp học, deadline và phiên ôn tập.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Import lịch từ Google Calendar/LMS hoặc file syllabus.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Gợi ý kế hoạch ôn tập tự động theo deadline, độ khó và thời gian trống.</a:t>
            </a:r>
          </a:p>
          <a:p>
            <a:pPr>
              <a:spcAft>
                <a:spcPts val="800"/>
              </a:spcAft>
              <a:defRPr sz="1700">
                <a:solidFill>
                  <a:srgbClr val="101828"/>
                </a:solidFill>
                <a:latin typeface="Arial"/>
              </a:defRPr>
            </a:pPr>
            <a:r>
              <a:t>• Chạy usability test vòng 2 với sinh viên thật và đo time-on-task.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1325880"/>
            <a:ext cx="2194560" cy="44348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65592" y="1490472"/>
            <a:ext cx="186537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01828"/>
                </a:solidFill>
                <a:latin typeface="Arial"/>
              </a:rPr>
              <a:t>Next Steps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1892808"/>
            <a:ext cx="1865376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20025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>
                <a:solidFill>
                  <a:srgbClr val="3478F6"/>
                </a:solidFill>
                <a:latin typeface="Arial"/>
              </a:rPr>
              <a:t>Tổng quan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23500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93608" y="24597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Theo dõi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2807208"/>
            <a:ext cx="1865376" cy="38404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5E7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916936"/>
            <a:ext cx="160934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667085"/>
                </a:solidFill>
                <a:latin typeface="Arial"/>
              </a:rPr>
              <a:t>Hoàn thành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8680" y="1645920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5600" b="1">
                <a:solidFill>
                  <a:srgbClr val="101828"/>
                </a:solidFill>
                <a:latin typeface="Arial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17320" y="269748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67085"/>
                </a:solidFill>
                <a:latin typeface="Arial"/>
              </a:rPr>
              <a:t>Cảm ơn thầy/cô và các bạn đã lắng nghe.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00600" y="3429000"/>
            <a:ext cx="2560320" cy="384048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3478F6"/>
                </a:solidFill>
                <a:latin typeface="Arial"/>
              </a:rPr>
              <a:t>StudyFlow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